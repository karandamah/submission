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389120" cy="51435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" name="Text 2"/>
          <p:cNvSpPr/>
          <p:nvPr/>
        </p:nvSpPr>
        <p:spPr>
          <a:xfrm>
            <a:off x="4663440" y="274320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main() {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663440" y="621792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9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 guess, number;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663440" y="969264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9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srand(time(0));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663440" y="1316736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9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number = rand()%100+1;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663440" y="1664208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9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while(attempts &lt; max)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663440" y="2011680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9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663440" y="2359152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9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printf("Guess: ");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663440" y="2706624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9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scanf("%d",&amp;guess);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63440" y="3054096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C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if(guess == number)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63440" y="3401568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C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printf("You Win!");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63440" y="3749040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9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63440" y="4096512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9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0;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63440" y="4443984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82880" y="64008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182880" y="137160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GUESSING GAME</a:t>
            </a:r>
            <a:endParaRPr lang="en-US" sz="2800" dirty="0"/>
          </a:p>
        </p:txBody>
      </p:sp>
      <p:sp>
        <p:nvSpPr>
          <p:cNvPr id="19" name="Shape 17"/>
          <p:cNvSpPr/>
          <p:nvPr/>
        </p:nvSpPr>
        <p:spPr>
          <a:xfrm>
            <a:off x="182880" y="2176272"/>
            <a:ext cx="3291840" cy="36576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0" name="Text 18"/>
          <p:cNvSpPr/>
          <p:nvPr/>
        </p:nvSpPr>
        <p:spPr>
          <a:xfrm>
            <a:off x="182880" y="228600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5A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Programming Project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2880" y="2880360"/>
            <a:ext cx="1280160" cy="777240"/>
          </a:xfrm>
          <a:prstGeom prst="rect">
            <a:avLst/>
          </a:prstGeom>
          <a:solidFill>
            <a:srgbClr val="1E356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82880" y="29260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82880" y="3218688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(GCC)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600200" y="2880360"/>
            <a:ext cx="1280160" cy="777240"/>
          </a:xfrm>
          <a:prstGeom prst="rect">
            <a:avLst/>
          </a:prstGeom>
          <a:solidFill>
            <a:srgbClr val="1E356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600200" y="29260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600200" y="3218688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Flow &amp; Logic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017520" y="2880360"/>
            <a:ext cx="1280160" cy="777240"/>
          </a:xfrm>
          <a:prstGeom prst="rect">
            <a:avLst/>
          </a:prstGeom>
          <a:solidFill>
            <a:srgbClr val="1E356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017520" y="29260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017520" y="3218688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Beginner+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37160" y="413308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— Computer Science and Engineering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0" y="3520440"/>
            <a:ext cx="4434840" cy="150876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2" name="Shape 30"/>
          <p:cNvSpPr/>
          <p:nvPr/>
        </p:nvSpPr>
        <p:spPr>
          <a:xfrm>
            <a:off x="4572000" y="3520440"/>
            <a:ext cx="4434840" cy="292608"/>
          </a:xfrm>
          <a:prstGeom prst="rect">
            <a:avLst/>
          </a:prstGeom>
          <a:solidFill>
            <a:srgbClr val="1C3D5A"/>
          </a:solidFill>
          <a:ln/>
        </p:spPr>
      </p:sp>
      <p:sp>
        <p:nvSpPr>
          <p:cNvPr id="33" name="Text 31"/>
          <p:cNvSpPr/>
          <p:nvPr/>
        </p:nvSpPr>
        <p:spPr>
          <a:xfrm>
            <a:off x="4663440" y="353872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995160" y="353872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PRN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572000" y="3840480"/>
            <a:ext cx="4434840" cy="224028"/>
          </a:xfrm>
          <a:prstGeom prst="rect">
            <a:avLst/>
          </a:prstGeom>
          <a:solidFill>
            <a:srgbClr val="102030"/>
          </a:solidFill>
          <a:ln/>
        </p:spPr>
      </p:sp>
      <p:sp>
        <p:nvSpPr>
          <p:cNvPr id="36" name="Text 34"/>
          <p:cNvSpPr/>
          <p:nvPr/>
        </p:nvSpPr>
        <p:spPr>
          <a:xfrm>
            <a:off x="4663440" y="386791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Karan Damah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995160" y="3867912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1262253256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663440" y="409194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Rugved Bajare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995160" y="409194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1262251027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572000" y="4288536"/>
            <a:ext cx="4434840" cy="224028"/>
          </a:xfrm>
          <a:prstGeom prst="rect">
            <a:avLst/>
          </a:prstGeom>
          <a:solidFill>
            <a:srgbClr val="102030"/>
          </a:solidFill>
          <a:ln/>
        </p:spPr>
      </p:sp>
      <p:sp>
        <p:nvSpPr>
          <p:cNvPr id="41" name="Text 39"/>
          <p:cNvSpPr/>
          <p:nvPr/>
        </p:nvSpPr>
        <p:spPr>
          <a:xfrm>
            <a:off x="4663440" y="431596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Varad Khokle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995160" y="4315968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1262253022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663440" y="4539996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Dnyandeep Tiwaskar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995160" y="4539996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1262252175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572000" y="4736592"/>
            <a:ext cx="4434840" cy="224028"/>
          </a:xfrm>
          <a:prstGeom prst="rect">
            <a:avLst/>
          </a:prstGeom>
          <a:solidFill>
            <a:srgbClr val="102030"/>
          </a:solidFill>
          <a:ln/>
        </p:spPr>
      </p:sp>
      <p:sp>
        <p:nvSpPr>
          <p:cNvPr id="46" name="Text 44"/>
          <p:cNvSpPr/>
          <p:nvPr/>
        </p:nvSpPr>
        <p:spPr>
          <a:xfrm>
            <a:off x="4663440" y="4764024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Nehit Kumar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995160" y="4764024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1262251876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A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411480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05840"/>
            <a:ext cx="594360" cy="804672"/>
          </a:xfrm>
          <a:prstGeom prst="rect">
            <a:avLst/>
          </a:prstGeom>
          <a:solidFill>
            <a:srgbClr val="1E5FAD"/>
          </a:solidFill>
          <a:ln/>
        </p:spPr>
      </p:sp>
      <p:sp>
        <p:nvSpPr>
          <p:cNvPr id="6" name="Text 4"/>
          <p:cNvSpPr/>
          <p:nvPr/>
        </p:nvSpPr>
        <p:spPr>
          <a:xfrm>
            <a:off x="329184" y="1005840"/>
            <a:ext cx="5760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05840" y="1042416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1389888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Purpose, tools and objectives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965960"/>
            <a:ext cx="411480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965960"/>
            <a:ext cx="594360" cy="804672"/>
          </a:xfrm>
          <a:prstGeom prst="rect">
            <a:avLst/>
          </a:prstGeom>
          <a:solidFill>
            <a:srgbClr val="1E5FAD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" y="1965960"/>
            <a:ext cx="5760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05840" y="2002536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2350008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logic flowchart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2926080"/>
            <a:ext cx="411480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926080"/>
            <a:ext cx="594360" cy="804672"/>
          </a:xfrm>
          <a:prstGeom prst="rect">
            <a:avLst/>
          </a:prstGeom>
          <a:solidFill>
            <a:srgbClr val="1E5FAD"/>
          </a:solidFill>
          <a:ln/>
        </p:spPr>
      </p:sp>
      <p:sp>
        <p:nvSpPr>
          <p:cNvPr id="16" name="Text 14"/>
          <p:cNvSpPr/>
          <p:nvPr/>
        </p:nvSpPr>
        <p:spPr>
          <a:xfrm>
            <a:off x="329184" y="2926080"/>
            <a:ext cx="5760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005840" y="2962656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Structure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05840" y="3310128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Modules, variables and flow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3886200"/>
            <a:ext cx="411480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3886200"/>
            <a:ext cx="594360" cy="804672"/>
          </a:xfrm>
          <a:prstGeom prst="rect">
            <a:avLst/>
          </a:prstGeom>
          <a:solidFill>
            <a:srgbClr val="1E5FAD"/>
          </a:solidFill>
          <a:ln/>
        </p:spPr>
      </p:sp>
      <p:sp>
        <p:nvSpPr>
          <p:cNvPr id="21" name="Text 19"/>
          <p:cNvSpPr/>
          <p:nvPr/>
        </p:nvSpPr>
        <p:spPr>
          <a:xfrm>
            <a:off x="329184" y="3886200"/>
            <a:ext cx="5760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005840" y="3922776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05840" y="4270248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Difficulty, hints and validation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46320" y="1005840"/>
            <a:ext cx="411480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46320" y="1005840"/>
            <a:ext cx="594360" cy="804672"/>
          </a:xfrm>
          <a:prstGeom prst="rect">
            <a:avLst/>
          </a:prstGeom>
          <a:solidFill>
            <a:srgbClr val="1E5FAD"/>
          </a:solidFill>
          <a:ln/>
        </p:spPr>
      </p:sp>
      <p:sp>
        <p:nvSpPr>
          <p:cNvPr id="26" name="Text 24"/>
          <p:cNvSpPr/>
          <p:nvPr/>
        </p:nvSpPr>
        <p:spPr>
          <a:xfrm>
            <a:off x="4855464" y="1005840"/>
            <a:ext cx="5760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532120" y="1042416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Walkthrough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532120" y="1389888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code blocks explained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46320" y="1965960"/>
            <a:ext cx="411480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46320" y="1965960"/>
            <a:ext cx="594360" cy="804672"/>
          </a:xfrm>
          <a:prstGeom prst="rect">
            <a:avLst/>
          </a:prstGeom>
          <a:solidFill>
            <a:srgbClr val="1E5FAD"/>
          </a:solidFill>
          <a:ln/>
        </p:spPr>
      </p:sp>
      <p:sp>
        <p:nvSpPr>
          <p:cNvPr id="31" name="Text 29"/>
          <p:cNvSpPr/>
          <p:nvPr/>
        </p:nvSpPr>
        <p:spPr>
          <a:xfrm>
            <a:off x="4855464" y="1965960"/>
            <a:ext cx="5760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5532120" y="2002536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Output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532120" y="2350008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Gameplay demonstration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846320" y="2926080"/>
            <a:ext cx="411480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846320" y="2926080"/>
            <a:ext cx="594360" cy="804672"/>
          </a:xfrm>
          <a:prstGeom prst="rect">
            <a:avLst/>
          </a:prstGeom>
          <a:solidFill>
            <a:srgbClr val="1E5FAD"/>
          </a:solidFill>
          <a:ln/>
        </p:spPr>
      </p:sp>
      <p:sp>
        <p:nvSpPr>
          <p:cNvPr id="36" name="Text 34"/>
          <p:cNvSpPr/>
          <p:nvPr/>
        </p:nvSpPr>
        <p:spPr>
          <a:xfrm>
            <a:off x="4855464" y="2926080"/>
            <a:ext cx="5760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5532120" y="2962656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Learning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532120" y="3310128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 and future scope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20040" cy="77724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85039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960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5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this project?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29844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console-based C program where the computer picks a secret number and the player tries to guess it within a limited number of attempts. The game provides hot/cold hints to guide the player.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2103120"/>
            <a:ext cx="201168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2103120"/>
            <a:ext cx="2011680" cy="347472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" y="2121408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0040" y="248716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E5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⌨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20040" y="297180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(ANSI C99)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68880" y="2103120"/>
            <a:ext cx="201168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468880" y="2103120"/>
            <a:ext cx="2011680" cy="347472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5" name="Text 13"/>
          <p:cNvSpPr/>
          <p:nvPr/>
        </p:nvSpPr>
        <p:spPr>
          <a:xfrm>
            <a:off x="2468880" y="2121408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468880" y="248716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E5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2468880" y="297180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GCC / Turbo C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17720" y="2103120"/>
            <a:ext cx="201168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17720" y="2103120"/>
            <a:ext cx="2011680" cy="347472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0" name="Text 18"/>
          <p:cNvSpPr/>
          <p:nvPr/>
        </p:nvSpPr>
        <p:spPr>
          <a:xfrm>
            <a:off x="4617720" y="2121408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617720" y="248716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E5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4617720" y="297180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stdio.h  stdlib.h  time.h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766560" y="2103120"/>
            <a:ext cx="201168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766560" y="2103120"/>
            <a:ext cx="2011680" cy="347472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5" name="Text 23"/>
          <p:cNvSpPr/>
          <p:nvPr/>
        </p:nvSpPr>
        <p:spPr>
          <a:xfrm>
            <a:off x="6766560" y="2121408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766560" y="248716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E5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6766560" y="297180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/ Linux CLI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0040" y="3547872"/>
            <a:ext cx="85039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0040" y="3547872"/>
            <a:ext cx="73152" cy="13716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0" name="Text 28"/>
          <p:cNvSpPr/>
          <p:nvPr/>
        </p:nvSpPr>
        <p:spPr>
          <a:xfrm>
            <a:off x="502920" y="3593592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5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02920" y="3950208"/>
            <a:ext cx="8046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rand() &amp; srand() for random number generation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loops (while), conditionals (if/else) and input validation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and display proximity hints using percentage-based logic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20040" cy="77724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896112"/>
            <a:ext cx="3931920" cy="384048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96112"/>
            <a:ext cx="457200" cy="38404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896112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50392" y="91440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50392" y="1078992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E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 execution of the program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" y="1353312"/>
            <a:ext cx="3931920" cy="384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1353312"/>
            <a:ext cx="457200" cy="384048"/>
          </a:xfrm>
          <a:prstGeom prst="rect">
            <a:avLst/>
          </a:prstGeom>
          <a:solidFill>
            <a:srgbClr val="1E5FAD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" y="1353312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50392" y="137160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5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Menu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50392" y="1536192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difficulty options to player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0040" y="1810512"/>
            <a:ext cx="3931920" cy="384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1810512"/>
            <a:ext cx="457200" cy="384048"/>
          </a:xfrm>
          <a:prstGeom prst="rect">
            <a:avLst/>
          </a:prstGeom>
          <a:solidFill>
            <a:srgbClr val="1E5FAD"/>
          </a:solidFill>
          <a:ln/>
        </p:spPr>
      </p:sp>
      <p:sp>
        <p:nvSpPr>
          <p:cNvPr id="17" name="Text 15"/>
          <p:cNvSpPr/>
          <p:nvPr/>
        </p:nvSpPr>
        <p:spPr>
          <a:xfrm>
            <a:off x="320040" y="1810512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50392" y="182880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5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Choice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50392" y="1993392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input (1, 2, or 3)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" y="2267712"/>
            <a:ext cx="3931920" cy="384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2267712"/>
            <a:ext cx="457200" cy="384048"/>
          </a:xfrm>
          <a:prstGeom prst="rect">
            <a:avLst/>
          </a:prstGeom>
          <a:solidFill>
            <a:srgbClr val="1E5FAD"/>
          </a:solidFill>
          <a:ln/>
        </p:spPr>
      </p:sp>
      <p:sp>
        <p:nvSpPr>
          <p:cNvPr id="22" name="Text 20"/>
          <p:cNvSpPr/>
          <p:nvPr/>
        </p:nvSpPr>
        <p:spPr>
          <a:xfrm>
            <a:off x="320040" y="2267712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50392" y="228600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5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Range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50392" y="2450592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min/max based on choice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" y="2724912"/>
            <a:ext cx="3931920" cy="384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2724912"/>
            <a:ext cx="457200" cy="384048"/>
          </a:xfrm>
          <a:prstGeom prst="rect">
            <a:avLst/>
          </a:prstGeom>
          <a:solidFill>
            <a:srgbClr val="1E5FAD"/>
          </a:solidFill>
          <a:ln/>
        </p:spPr>
      </p:sp>
      <p:sp>
        <p:nvSpPr>
          <p:cNvPr id="27" name="Text 25"/>
          <p:cNvSpPr/>
          <p:nvPr/>
        </p:nvSpPr>
        <p:spPr>
          <a:xfrm>
            <a:off x="320040" y="2724912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50392" y="274320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5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Number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50392" y="2907792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rand() % range + min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20040" y="3182112"/>
            <a:ext cx="3931920" cy="384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20040" y="3182112"/>
            <a:ext cx="457200" cy="384048"/>
          </a:xfrm>
          <a:prstGeom prst="rect">
            <a:avLst/>
          </a:prstGeom>
          <a:solidFill>
            <a:srgbClr val="1E5FAD"/>
          </a:solidFill>
          <a:ln/>
        </p:spPr>
      </p:sp>
      <p:sp>
        <p:nvSpPr>
          <p:cNvPr id="32" name="Text 30"/>
          <p:cNvSpPr/>
          <p:nvPr/>
        </p:nvSpPr>
        <p:spPr>
          <a:xfrm>
            <a:off x="320040" y="3182112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50392" y="320040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5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Guessing Loop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50392" y="3364992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until win or max attempts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20040" y="3639312"/>
            <a:ext cx="3931920" cy="384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20040" y="3639312"/>
            <a:ext cx="457200" cy="384048"/>
          </a:xfrm>
          <a:prstGeom prst="rect">
            <a:avLst/>
          </a:prstGeom>
          <a:solidFill>
            <a:srgbClr val="1E5FAD"/>
          </a:solidFill>
          <a:ln/>
        </p:spPr>
      </p:sp>
      <p:sp>
        <p:nvSpPr>
          <p:cNvPr id="37" name="Text 35"/>
          <p:cNvSpPr/>
          <p:nvPr/>
        </p:nvSpPr>
        <p:spPr>
          <a:xfrm>
            <a:off x="320040" y="3639312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850392" y="365760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5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Guess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50392" y="3822192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Correct? → Win  |  Wrong? → Hint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20040" y="4096512"/>
            <a:ext cx="3931920" cy="384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320040" y="4096512"/>
            <a:ext cx="457200" cy="384048"/>
          </a:xfrm>
          <a:prstGeom prst="rect">
            <a:avLst/>
          </a:prstGeom>
          <a:solidFill>
            <a:srgbClr val="1E5FAD"/>
          </a:solidFill>
          <a:ln/>
        </p:spPr>
      </p:sp>
      <p:sp>
        <p:nvSpPr>
          <p:cNvPr id="42" name="Text 40"/>
          <p:cNvSpPr/>
          <p:nvPr/>
        </p:nvSpPr>
        <p:spPr>
          <a:xfrm>
            <a:off x="320040" y="4096512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850392" y="411480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5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Result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850392" y="4279392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win/lose message &amp; answer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320040" y="4553712"/>
            <a:ext cx="3931920" cy="384048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320040" y="4553712"/>
            <a:ext cx="457200" cy="38404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47" name="Text 45"/>
          <p:cNvSpPr/>
          <p:nvPr/>
        </p:nvSpPr>
        <p:spPr>
          <a:xfrm>
            <a:off x="320040" y="4553712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850392" y="457200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850392" y="4736592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E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terminates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663440" y="896112"/>
            <a:ext cx="4206240" cy="4114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4663440" y="896112"/>
            <a:ext cx="4206240" cy="38404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52" name="Text 50"/>
          <p:cNvSpPr/>
          <p:nvPr/>
        </p:nvSpPr>
        <p:spPr>
          <a:xfrm>
            <a:off x="4754880" y="896112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 Calculation Logic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4800600" y="137160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5F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diff = |guess − number|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4800600" y="171907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5F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percent = diff / range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4754880" y="2240280"/>
            <a:ext cx="3840480" cy="493776"/>
          </a:xfrm>
          <a:prstGeom prst="rect">
            <a:avLst/>
          </a:prstGeom>
          <a:solidFill>
            <a:srgbClr val="F0F6FF"/>
          </a:solidFill>
          <a:ln/>
        </p:spPr>
      </p:sp>
      <p:sp>
        <p:nvSpPr>
          <p:cNvPr id="56" name="Shape 54"/>
          <p:cNvSpPr/>
          <p:nvPr/>
        </p:nvSpPr>
        <p:spPr>
          <a:xfrm>
            <a:off x="4754880" y="2240280"/>
            <a:ext cx="164592" cy="4937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7" name="Text 55"/>
          <p:cNvSpPr/>
          <p:nvPr/>
        </p:nvSpPr>
        <p:spPr>
          <a:xfrm>
            <a:off x="4992624" y="2249424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Cold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4992624" y="2487168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70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percent ≥ 0.50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6400800" y="23317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50%+ away from answer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4754880" y="2807208"/>
            <a:ext cx="3840480" cy="493776"/>
          </a:xfrm>
          <a:prstGeom prst="rect">
            <a:avLst/>
          </a:prstGeom>
          <a:solidFill>
            <a:srgbClr val="F0F6FF"/>
          </a:solidFill>
          <a:ln/>
        </p:spPr>
      </p:sp>
      <p:sp>
        <p:nvSpPr>
          <p:cNvPr id="61" name="Shape 59"/>
          <p:cNvSpPr/>
          <p:nvPr/>
        </p:nvSpPr>
        <p:spPr>
          <a:xfrm>
            <a:off x="4754880" y="2807208"/>
            <a:ext cx="164592" cy="4937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62" name="Text 60"/>
          <p:cNvSpPr/>
          <p:nvPr/>
        </p:nvSpPr>
        <p:spPr>
          <a:xfrm>
            <a:off x="4992624" y="2816352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4992624" y="3054096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70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0.30 ≤ percent &lt; 0.50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6400800" y="2898648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30–49% away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4754880" y="3374136"/>
            <a:ext cx="3840480" cy="493776"/>
          </a:xfrm>
          <a:prstGeom prst="rect">
            <a:avLst/>
          </a:prstGeom>
          <a:solidFill>
            <a:srgbClr val="F0F6FF"/>
          </a:solidFill>
          <a:ln/>
        </p:spPr>
      </p:sp>
      <p:sp>
        <p:nvSpPr>
          <p:cNvPr id="66" name="Shape 64"/>
          <p:cNvSpPr/>
          <p:nvPr/>
        </p:nvSpPr>
        <p:spPr>
          <a:xfrm>
            <a:off x="4754880" y="3374136"/>
            <a:ext cx="164592" cy="4937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7" name="Text 65"/>
          <p:cNvSpPr/>
          <p:nvPr/>
        </p:nvSpPr>
        <p:spPr>
          <a:xfrm>
            <a:off x="4992624" y="3383280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</a:t>
            </a:r>
            <a:endParaRPr lang="en-US" sz="1200" dirty="0"/>
          </a:p>
        </p:txBody>
      </p:sp>
      <p:sp>
        <p:nvSpPr>
          <p:cNvPr id="68" name="Text 66"/>
          <p:cNvSpPr/>
          <p:nvPr/>
        </p:nvSpPr>
        <p:spPr>
          <a:xfrm>
            <a:off x="4992624" y="3621024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70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0.10 ≤ percent &lt; 0.30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6400800" y="3465576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10–29% away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4754880" y="3941064"/>
            <a:ext cx="3840480" cy="493776"/>
          </a:xfrm>
          <a:prstGeom prst="rect">
            <a:avLst/>
          </a:prstGeom>
          <a:solidFill>
            <a:srgbClr val="F0F6FF"/>
          </a:solidFill>
          <a:ln/>
        </p:spPr>
      </p:sp>
      <p:sp>
        <p:nvSpPr>
          <p:cNvPr id="71" name="Shape 69"/>
          <p:cNvSpPr/>
          <p:nvPr/>
        </p:nvSpPr>
        <p:spPr>
          <a:xfrm>
            <a:off x="4754880" y="3941064"/>
            <a:ext cx="164592" cy="4937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2" name="Text 70"/>
          <p:cNvSpPr/>
          <p:nvPr/>
        </p:nvSpPr>
        <p:spPr>
          <a:xfrm>
            <a:off x="4992624" y="3950208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Hot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4992624" y="4187952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70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percent &lt; 0.10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6400800" y="4032504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than 10% away!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20040" cy="77724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Structure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4160520" cy="3977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14400"/>
            <a:ext cx="4160520" cy="365760"/>
          </a:xfrm>
          <a:prstGeom prst="rect">
            <a:avLst/>
          </a:prstGeom>
          <a:solidFill>
            <a:srgbClr val="1E5FAD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91440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Used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371600"/>
            <a:ext cx="4160520" cy="374904"/>
          </a:xfrm>
          <a:prstGeom prst="rect">
            <a:avLst/>
          </a:prstGeom>
          <a:solidFill>
            <a:srgbClr val="F8FAFE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1426464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5F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choice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783080" y="1426464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7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487168" y="1426464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selection (1/2/3)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11480" y="1801368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5F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min, max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783080" y="180136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7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487168" y="1801368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range boundaries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0040" y="2121408"/>
            <a:ext cx="4160520" cy="374904"/>
          </a:xfrm>
          <a:prstGeom prst="rect">
            <a:avLst/>
          </a:prstGeom>
          <a:solidFill>
            <a:srgbClr val="F8FAFE"/>
          </a:solidFill>
          <a:ln/>
        </p:spPr>
      </p:sp>
      <p:sp>
        <p:nvSpPr>
          <p:cNvPr id="16" name="Text 14"/>
          <p:cNvSpPr/>
          <p:nvPr/>
        </p:nvSpPr>
        <p:spPr>
          <a:xfrm>
            <a:off x="411480" y="2176272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5F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783080" y="2176272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7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487168" y="2176272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random number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11480" y="2551176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5F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guess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783080" y="2551176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7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487168" y="2551176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Player's current guess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0040" y="2871216"/>
            <a:ext cx="4160520" cy="374904"/>
          </a:xfrm>
          <a:prstGeom prst="rect">
            <a:avLst/>
          </a:prstGeom>
          <a:solidFill>
            <a:srgbClr val="F8FAFE"/>
          </a:solidFill>
          <a:ln/>
        </p:spPr>
      </p:sp>
      <p:sp>
        <p:nvSpPr>
          <p:cNvPr id="23" name="Text 21"/>
          <p:cNvSpPr/>
          <p:nvPr/>
        </p:nvSpPr>
        <p:spPr>
          <a:xfrm>
            <a:off x="411480" y="292608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5F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attempts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783080" y="292608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7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487168" y="2926080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Guess counter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11480" y="3300984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5F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maxAttempts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783080" y="3300984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7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487168" y="3300984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allowed guesses (7)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20040" y="3621024"/>
            <a:ext cx="4160520" cy="374904"/>
          </a:xfrm>
          <a:prstGeom prst="rect">
            <a:avLst/>
          </a:prstGeom>
          <a:solidFill>
            <a:srgbClr val="F8FAFE"/>
          </a:solidFill>
          <a:ln/>
        </p:spPr>
      </p:sp>
      <p:sp>
        <p:nvSpPr>
          <p:cNvPr id="30" name="Text 28"/>
          <p:cNvSpPr/>
          <p:nvPr/>
        </p:nvSpPr>
        <p:spPr>
          <a:xfrm>
            <a:off x="411480" y="3675888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5F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diff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783080" y="367588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7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487168" y="3675888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 difference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11480" y="4050792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5F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783080" y="4050792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7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487168" y="4050792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− min + 1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20040" y="4370832"/>
            <a:ext cx="4160520" cy="374904"/>
          </a:xfrm>
          <a:prstGeom prst="rect">
            <a:avLst/>
          </a:prstGeom>
          <a:solidFill>
            <a:srgbClr val="F8FAFE"/>
          </a:solidFill>
          <a:ln/>
        </p:spPr>
      </p:sp>
      <p:sp>
        <p:nvSpPr>
          <p:cNvPr id="37" name="Text 35"/>
          <p:cNvSpPr/>
          <p:nvPr/>
        </p:nvSpPr>
        <p:spPr>
          <a:xfrm>
            <a:off x="411480" y="4425696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5F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percent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783080" y="4425696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7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487168" y="4425696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Proximity as fraction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800600" y="914400"/>
            <a:ext cx="4023360" cy="3977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800600" y="914400"/>
            <a:ext cx="4023360" cy="365760"/>
          </a:xfrm>
          <a:prstGeom prst="rect">
            <a:avLst/>
          </a:prstGeom>
          <a:solidFill>
            <a:srgbClr val="1E5FAD"/>
          </a:solidFill>
          <a:ln/>
        </p:spPr>
      </p:sp>
      <p:sp>
        <p:nvSpPr>
          <p:cNvPr id="42" name="Text 40"/>
          <p:cNvSpPr/>
          <p:nvPr/>
        </p:nvSpPr>
        <p:spPr>
          <a:xfrm>
            <a:off x="4892040" y="9144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Phases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4892040" y="1371600"/>
            <a:ext cx="384048" cy="43891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44" name="Text 42"/>
          <p:cNvSpPr/>
          <p:nvPr/>
        </p:nvSpPr>
        <p:spPr>
          <a:xfrm>
            <a:off x="4892040" y="1371600"/>
            <a:ext cx="3840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5349240" y="1380744"/>
            <a:ext cx="3337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5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Initialization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349240" y="1591056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RNG, declare variables, show welcome banner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892040" y="1947672"/>
            <a:ext cx="384048" cy="43891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48" name="Text 46"/>
          <p:cNvSpPr/>
          <p:nvPr/>
        </p:nvSpPr>
        <p:spPr>
          <a:xfrm>
            <a:off x="4892040" y="1947672"/>
            <a:ext cx="3840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5349240" y="1956816"/>
            <a:ext cx="3337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5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&amp; Input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5349240" y="2167128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difficulty menu, read and validate choice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892040" y="2523744"/>
            <a:ext cx="384048" cy="43891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52" name="Text 50"/>
          <p:cNvSpPr/>
          <p:nvPr/>
        </p:nvSpPr>
        <p:spPr>
          <a:xfrm>
            <a:off x="4892040" y="2523744"/>
            <a:ext cx="3840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5349240" y="2532888"/>
            <a:ext cx="3337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5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5349240" y="2743200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range, generate secret number, display rules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892040" y="3099816"/>
            <a:ext cx="384048" cy="43891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56" name="Text 54"/>
          <p:cNvSpPr/>
          <p:nvPr/>
        </p:nvSpPr>
        <p:spPr>
          <a:xfrm>
            <a:off x="4892040" y="3099816"/>
            <a:ext cx="3840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5349240" y="3108960"/>
            <a:ext cx="3337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5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Loop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5349240" y="3319272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guess → evaluate → show hint (repeat ≤7)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4892040" y="3675888"/>
            <a:ext cx="384048" cy="43891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60" name="Text 58"/>
          <p:cNvSpPr/>
          <p:nvPr/>
        </p:nvSpPr>
        <p:spPr>
          <a:xfrm>
            <a:off x="4892040" y="3675888"/>
            <a:ext cx="3840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5349240" y="3685032"/>
            <a:ext cx="3337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5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Condition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5349240" y="3895344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guess == number → show congratulations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4892040" y="4251960"/>
            <a:ext cx="384048" cy="43891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64" name="Text 62"/>
          <p:cNvSpPr/>
          <p:nvPr/>
        </p:nvSpPr>
        <p:spPr>
          <a:xfrm>
            <a:off x="4892040" y="4251960"/>
            <a:ext cx="3840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5349240" y="4261104"/>
            <a:ext cx="3337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5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Lose Condition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5349240" y="4471416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attempts exhausted → reveal the number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20040" cy="77724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2743200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14400"/>
            <a:ext cx="2743200" cy="5029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932688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3 Difficulty Levels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490472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Easy: 1 – 10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819656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Medium: 1 – 50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14884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Hard: 1 – 100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46120" y="914400"/>
            <a:ext cx="2743200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914400"/>
            <a:ext cx="2743200" cy="5029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3337560" y="932688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♨  Hot / Cold Hint System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83280" y="1490472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Very Cold (≥50% away)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83280" y="1819656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Cold (30-49%)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83280" y="214884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Hot (10-29%)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83280" y="2478024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Very Hot (&lt;10%)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72200" y="914400"/>
            <a:ext cx="2743200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72200" y="914400"/>
            <a:ext cx="2743200" cy="502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6263640" y="932688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🔢  Limited Attempts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309360" y="1490472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Max 7 guesses only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09360" y="1819656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Attempt counter shown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09360" y="214884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Challenge increases tension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" y="3063240"/>
            <a:ext cx="2743200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3063240"/>
            <a:ext cx="2743200" cy="5029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6" name="Text 24"/>
          <p:cNvSpPr/>
          <p:nvPr/>
        </p:nvSpPr>
        <p:spPr>
          <a:xfrm>
            <a:off x="411480" y="3081528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🎲  Random Number Engine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3639312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srand(time(0)) seed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3968496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rand() % range + min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429768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Unique each session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246120" y="3063240"/>
            <a:ext cx="2743200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246120" y="3063240"/>
            <a:ext cx="2743200" cy="5029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2" name="Text 30"/>
          <p:cNvSpPr/>
          <p:nvPr/>
        </p:nvSpPr>
        <p:spPr>
          <a:xfrm>
            <a:off x="3337560" y="3081528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Input Validation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383280" y="3639312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Menu choice 1–3 only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383280" y="3968496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Invalid → clear message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383280" y="429768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Graceful exit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172200" y="3063240"/>
            <a:ext cx="2743200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172200" y="3063240"/>
            <a:ext cx="2743200" cy="5029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8" name="Text 36"/>
          <p:cNvSpPr/>
          <p:nvPr/>
        </p:nvSpPr>
        <p:spPr>
          <a:xfrm>
            <a:off x="6263640" y="3081528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Result Summary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309360" y="3639312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Win: attempts used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309360" y="3968496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Lose: reveal answer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309360" y="429768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Clean console display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20040" cy="77724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Walkthrough – Setup &amp; Difficulty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896112"/>
            <a:ext cx="5029200" cy="406908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896112"/>
            <a:ext cx="5029200" cy="365760"/>
          </a:xfrm>
          <a:prstGeom prst="rect">
            <a:avLst/>
          </a:prstGeom>
          <a:solidFill>
            <a:srgbClr val="1C3D5A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896112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E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● ●  main.c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325880"/>
            <a:ext cx="4754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9F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&lt;stdio.h&gt;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57200" y="1545336"/>
            <a:ext cx="4754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9F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&lt;stdlib.h&gt;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1764792"/>
            <a:ext cx="4754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9F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&lt;time.h&gt;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7200" y="1984248"/>
            <a:ext cx="4754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" y="2203704"/>
            <a:ext cx="4754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main() {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2423160"/>
            <a:ext cx="4754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 choice, min, max;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57200" y="2642616"/>
            <a:ext cx="4754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 attempts = 0, maxAttempts = 7;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57200" y="2862072"/>
            <a:ext cx="4754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float percent; int diff, range;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57200" y="3081528"/>
            <a:ext cx="4754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57200" y="3300984"/>
            <a:ext cx="4754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srand(time(0));  // seed RNG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57200" y="3520440"/>
            <a:ext cx="4754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57200" y="3739896"/>
            <a:ext cx="4754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(choice == 1) { min=1; max=10;  }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57200" y="3959352"/>
            <a:ext cx="4754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(choice == 2) { min=1; max=50;  }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57200" y="4178808"/>
            <a:ext cx="4754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(choice == 3) { min=1; max=100; }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57200" y="4398264"/>
            <a:ext cx="4754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57200" y="4617720"/>
            <a:ext cx="4754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number = (rand() % range) + min;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532120" y="896112"/>
            <a:ext cx="3337560" cy="406908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25" name="Shape 23"/>
          <p:cNvSpPr/>
          <p:nvPr/>
        </p:nvSpPr>
        <p:spPr>
          <a:xfrm>
            <a:off x="5532120" y="896112"/>
            <a:ext cx="3337560" cy="365760"/>
          </a:xfrm>
          <a:prstGeom prst="rect">
            <a:avLst/>
          </a:prstGeom>
          <a:solidFill>
            <a:srgbClr val="1C3D5A"/>
          </a:solidFill>
          <a:ln/>
        </p:spPr>
      </p:sp>
      <p:sp>
        <p:nvSpPr>
          <p:cNvPr id="26" name="Text 24"/>
          <p:cNvSpPr/>
          <p:nvPr/>
        </p:nvSpPr>
        <p:spPr>
          <a:xfrm>
            <a:off x="5623560" y="896112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E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📝  Annotations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623560" y="1371600"/>
            <a:ext cx="3063240" cy="658368"/>
          </a:xfrm>
          <a:prstGeom prst="rect">
            <a:avLst/>
          </a:prstGeom>
          <a:solidFill>
            <a:srgbClr val="102030"/>
          </a:solidFill>
          <a:ln/>
        </p:spPr>
      </p:sp>
      <p:sp>
        <p:nvSpPr>
          <p:cNvPr id="28" name="Shape 26"/>
          <p:cNvSpPr/>
          <p:nvPr/>
        </p:nvSpPr>
        <p:spPr>
          <a:xfrm>
            <a:off x="5623560" y="1371600"/>
            <a:ext cx="73152" cy="65836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9" name="Text 27"/>
          <p:cNvSpPr/>
          <p:nvPr/>
        </p:nvSpPr>
        <p:spPr>
          <a:xfrm>
            <a:off x="5760720" y="1389888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760720" y="1627632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stdio.h for I/O, stdlib.h for rand(), time.h for time()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623560" y="2121408"/>
            <a:ext cx="3063240" cy="658368"/>
          </a:xfrm>
          <a:prstGeom prst="rect">
            <a:avLst/>
          </a:prstGeom>
          <a:solidFill>
            <a:srgbClr val="102030"/>
          </a:solidFill>
          <a:ln/>
        </p:spPr>
      </p:sp>
      <p:sp>
        <p:nvSpPr>
          <p:cNvPr id="32" name="Shape 30"/>
          <p:cNvSpPr/>
          <p:nvPr/>
        </p:nvSpPr>
        <p:spPr>
          <a:xfrm>
            <a:off x="5623560" y="2121408"/>
            <a:ext cx="73152" cy="65836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3" name="Text 31"/>
          <p:cNvSpPr/>
          <p:nvPr/>
        </p:nvSpPr>
        <p:spPr>
          <a:xfrm>
            <a:off x="5760720" y="2139696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760720" y="237744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declared as int; percent as float for accurate ratio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623560" y="2871216"/>
            <a:ext cx="3063240" cy="658368"/>
          </a:xfrm>
          <a:prstGeom prst="rect">
            <a:avLst/>
          </a:prstGeom>
          <a:solidFill>
            <a:srgbClr val="102030"/>
          </a:solidFill>
          <a:ln/>
        </p:spPr>
      </p:sp>
      <p:sp>
        <p:nvSpPr>
          <p:cNvPr id="36" name="Shape 34"/>
          <p:cNvSpPr/>
          <p:nvPr/>
        </p:nvSpPr>
        <p:spPr>
          <a:xfrm>
            <a:off x="5623560" y="2871216"/>
            <a:ext cx="73152" cy="65836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7" name="Text 35"/>
          <p:cNvSpPr/>
          <p:nvPr/>
        </p:nvSpPr>
        <p:spPr>
          <a:xfrm>
            <a:off x="5760720" y="2889504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RNG Seed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760720" y="3127248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srand(time(0)) ensures a different number every run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623560" y="3621024"/>
            <a:ext cx="3063240" cy="658368"/>
          </a:xfrm>
          <a:prstGeom prst="rect">
            <a:avLst/>
          </a:prstGeom>
          <a:solidFill>
            <a:srgbClr val="102030"/>
          </a:solidFill>
          <a:ln/>
        </p:spPr>
      </p:sp>
      <p:sp>
        <p:nvSpPr>
          <p:cNvPr id="40" name="Shape 38"/>
          <p:cNvSpPr/>
          <p:nvPr/>
        </p:nvSpPr>
        <p:spPr>
          <a:xfrm>
            <a:off x="5623560" y="3621024"/>
            <a:ext cx="73152" cy="65836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41" name="Text 39"/>
          <p:cNvSpPr/>
          <p:nvPr/>
        </p:nvSpPr>
        <p:spPr>
          <a:xfrm>
            <a:off x="5760720" y="3639312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760720" y="3877056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if-else chain maps user choice to min/max boundaries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623560" y="4370832"/>
            <a:ext cx="3063240" cy="658368"/>
          </a:xfrm>
          <a:prstGeom prst="rect">
            <a:avLst/>
          </a:prstGeom>
          <a:solidFill>
            <a:srgbClr val="102030"/>
          </a:solidFill>
          <a:ln/>
        </p:spPr>
      </p:sp>
      <p:sp>
        <p:nvSpPr>
          <p:cNvPr id="44" name="Shape 42"/>
          <p:cNvSpPr/>
          <p:nvPr/>
        </p:nvSpPr>
        <p:spPr>
          <a:xfrm>
            <a:off x="5623560" y="4370832"/>
            <a:ext cx="73152" cy="65836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45" name="Text 43"/>
          <p:cNvSpPr/>
          <p:nvPr/>
        </p:nvSpPr>
        <p:spPr>
          <a:xfrm>
            <a:off x="5760720" y="438912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Random#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760720" y="4626864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rand() % range + min generates number in [min, max]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20040" cy="777240"/>
          </a:xfrm>
          <a:prstGeom prst="rect">
            <a:avLst/>
          </a:prstGeom>
          <a:solidFill>
            <a:srgbClr val="00CC8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Walkthrough – Game Loop &amp; Hint Logic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896112"/>
            <a:ext cx="5029200" cy="406908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896112"/>
            <a:ext cx="5029200" cy="365760"/>
          </a:xfrm>
          <a:prstGeom prst="rect">
            <a:avLst/>
          </a:prstGeom>
          <a:solidFill>
            <a:srgbClr val="1C3D5A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896112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E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● ●  game loop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325880"/>
            <a:ext cx="4754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(attempts &lt; maxAttempts) {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57200" y="1545336"/>
            <a:ext cx="4754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printf("Guess: ");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1764792"/>
            <a:ext cx="4754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scanf("%d", &amp;guess);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7200" y="1984248"/>
            <a:ext cx="4754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attempts++;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" y="2203704"/>
            <a:ext cx="4754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2423160"/>
            <a:ext cx="4754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CC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(guess == number) {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57200" y="2642616"/>
            <a:ext cx="4754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CC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printf("🎉 Correct!\n");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57200" y="2862072"/>
            <a:ext cx="4754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CC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0; }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57200" y="3081528"/>
            <a:ext cx="4754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else {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57200" y="3300984"/>
            <a:ext cx="4754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diff = guess - number;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57200" y="3520440"/>
            <a:ext cx="4754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(diff &lt; 0) diff = -diff;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57200" y="3739896"/>
            <a:ext cx="4754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percent = (float)diff / range;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57200" y="3959352"/>
            <a:ext cx="4754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     (percent &gt;= 0.5) Very Cold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57200" y="4178808"/>
            <a:ext cx="4754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 if (percent &gt;= 0.3) Cold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57200" y="4398264"/>
            <a:ext cx="4754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 if (percent &gt;= 0.1) Hot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57200" y="4617720"/>
            <a:ext cx="4754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 printf("Very Hot\n"); } }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532120" y="896112"/>
            <a:ext cx="3337560" cy="406908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25" name="Shape 23"/>
          <p:cNvSpPr/>
          <p:nvPr/>
        </p:nvSpPr>
        <p:spPr>
          <a:xfrm>
            <a:off x="5532120" y="896112"/>
            <a:ext cx="3337560" cy="365760"/>
          </a:xfrm>
          <a:prstGeom prst="rect">
            <a:avLst/>
          </a:prstGeom>
          <a:solidFill>
            <a:srgbClr val="1C3D5A"/>
          </a:solidFill>
          <a:ln/>
        </p:spPr>
      </p:sp>
      <p:sp>
        <p:nvSpPr>
          <p:cNvPr id="26" name="Text 24"/>
          <p:cNvSpPr/>
          <p:nvPr/>
        </p:nvSpPr>
        <p:spPr>
          <a:xfrm>
            <a:off x="5623560" y="896112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E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📝  Annotations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623560" y="1371600"/>
            <a:ext cx="3063240" cy="658368"/>
          </a:xfrm>
          <a:prstGeom prst="rect">
            <a:avLst/>
          </a:prstGeom>
          <a:solidFill>
            <a:srgbClr val="102030"/>
          </a:solidFill>
          <a:ln/>
        </p:spPr>
      </p:sp>
      <p:sp>
        <p:nvSpPr>
          <p:cNvPr id="28" name="Shape 26"/>
          <p:cNvSpPr/>
          <p:nvPr/>
        </p:nvSpPr>
        <p:spPr>
          <a:xfrm>
            <a:off x="5623560" y="1371600"/>
            <a:ext cx="73152" cy="658368"/>
          </a:xfrm>
          <a:prstGeom prst="rect">
            <a:avLst/>
          </a:prstGeom>
          <a:solidFill>
            <a:srgbClr val="00CC88"/>
          </a:solidFill>
          <a:ln/>
        </p:spPr>
      </p:sp>
      <p:sp>
        <p:nvSpPr>
          <p:cNvPr id="29" name="Text 27"/>
          <p:cNvSpPr/>
          <p:nvPr/>
        </p:nvSpPr>
        <p:spPr>
          <a:xfrm>
            <a:off x="5760720" y="1389888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loop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760720" y="1627632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Continues until player wins or 7 attempts are exhausted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623560" y="2121408"/>
            <a:ext cx="3063240" cy="658368"/>
          </a:xfrm>
          <a:prstGeom prst="rect">
            <a:avLst/>
          </a:prstGeom>
          <a:solidFill>
            <a:srgbClr val="102030"/>
          </a:solidFill>
          <a:ln/>
        </p:spPr>
      </p:sp>
      <p:sp>
        <p:nvSpPr>
          <p:cNvPr id="32" name="Shape 30"/>
          <p:cNvSpPr/>
          <p:nvPr/>
        </p:nvSpPr>
        <p:spPr>
          <a:xfrm>
            <a:off x="5623560" y="2121408"/>
            <a:ext cx="73152" cy="658368"/>
          </a:xfrm>
          <a:prstGeom prst="rect">
            <a:avLst/>
          </a:prstGeom>
          <a:solidFill>
            <a:srgbClr val="00CC88"/>
          </a:solidFill>
          <a:ln/>
        </p:spPr>
      </p:sp>
      <p:sp>
        <p:nvSpPr>
          <p:cNvPr id="33" name="Text 31"/>
          <p:cNvSpPr/>
          <p:nvPr/>
        </p:nvSpPr>
        <p:spPr>
          <a:xfrm>
            <a:off x="5760720" y="2139696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attempts++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760720" y="237744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 counter AFTER reading guess each turn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623560" y="2871216"/>
            <a:ext cx="3063240" cy="658368"/>
          </a:xfrm>
          <a:prstGeom prst="rect">
            <a:avLst/>
          </a:prstGeom>
          <a:solidFill>
            <a:srgbClr val="102030"/>
          </a:solidFill>
          <a:ln/>
        </p:spPr>
      </p:sp>
      <p:sp>
        <p:nvSpPr>
          <p:cNvPr id="36" name="Shape 34"/>
          <p:cNvSpPr/>
          <p:nvPr/>
        </p:nvSpPr>
        <p:spPr>
          <a:xfrm>
            <a:off x="5623560" y="2871216"/>
            <a:ext cx="73152" cy="658368"/>
          </a:xfrm>
          <a:prstGeom prst="rect">
            <a:avLst/>
          </a:prstGeom>
          <a:solidFill>
            <a:srgbClr val="00CC88"/>
          </a:solidFill>
          <a:ln/>
        </p:spPr>
      </p:sp>
      <p:sp>
        <p:nvSpPr>
          <p:cNvPr id="37" name="Text 35"/>
          <p:cNvSpPr/>
          <p:nvPr/>
        </p:nvSpPr>
        <p:spPr>
          <a:xfrm>
            <a:off x="5760720" y="2889504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check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760720" y="3127248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match → congratulate and exit immediately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623560" y="3621024"/>
            <a:ext cx="3063240" cy="658368"/>
          </a:xfrm>
          <a:prstGeom prst="rect">
            <a:avLst/>
          </a:prstGeom>
          <a:solidFill>
            <a:srgbClr val="102030"/>
          </a:solidFill>
          <a:ln/>
        </p:spPr>
      </p:sp>
      <p:sp>
        <p:nvSpPr>
          <p:cNvPr id="40" name="Shape 38"/>
          <p:cNvSpPr/>
          <p:nvPr/>
        </p:nvSpPr>
        <p:spPr>
          <a:xfrm>
            <a:off x="5623560" y="3621024"/>
            <a:ext cx="73152" cy="658368"/>
          </a:xfrm>
          <a:prstGeom prst="rect">
            <a:avLst/>
          </a:prstGeom>
          <a:solidFill>
            <a:srgbClr val="00CC88"/>
          </a:solidFill>
          <a:ln/>
        </p:spPr>
      </p:sp>
      <p:sp>
        <p:nvSpPr>
          <p:cNvPr id="41" name="Text 39"/>
          <p:cNvSpPr/>
          <p:nvPr/>
        </p:nvSpPr>
        <p:spPr>
          <a:xfrm>
            <a:off x="5760720" y="3639312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 formula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760720" y="3877056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 value ensures direction doesn't matter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623560" y="4370832"/>
            <a:ext cx="3063240" cy="658368"/>
          </a:xfrm>
          <a:prstGeom prst="rect">
            <a:avLst/>
          </a:prstGeom>
          <a:solidFill>
            <a:srgbClr val="102030"/>
          </a:solidFill>
          <a:ln/>
        </p:spPr>
      </p:sp>
      <p:sp>
        <p:nvSpPr>
          <p:cNvPr id="44" name="Shape 42"/>
          <p:cNvSpPr/>
          <p:nvPr/>
        </p:nvSpPr>
        <p:spPr>
          <a:xfrm>
            <a:off x="5623560" y="4370832"/>
            <a:ext cx="73152" cy="658368"/>
          </a:xfrm>
          <a:prstGeom prst="rect">
            <a:avLst/>
          </a:prstGeom>
          <a:solidFill>
            <a:srgbClr val="00CC88"/>
          </a:solidFill>
          <a:ln/>
        </p:spPr>
      </p:sp>
      <p:sp>
        <p:nvSpPr>
          <p:cNvPr id="45" name="Text 43"/>
          <p:cNvSpPr/>
          <p:nvPr/>
        </p:nvSpPr>
        <p:spPr>
          <a:xfrm>
            <a:off x="5760720" y="438912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 chain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760720" y="4626864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Cascading if-else maps percent fraction to hint text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20040" cy="77724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Output – Gameplay Demo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4160520" cy="4023360"/>
          </a:xfrm>
          <a:prstGeom prst="rect">
            <a:avLst/>
          </a:prstGeom>
          <a:solidFill>
            <a:srgbClr val="0A0F1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14400"/>
            <a:ext cx="4160520" cy="365760"/>
          </a:xfrm>
          <a:prstGeom prst="rect">
            <a:avLst/>
          </a:prstGeom>
          <a:solidFill>
            <a:srgbClr val="1A3050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1024128"/>
            <a:ext cx="128016" cy="128016"/>
          </a:xfrm>
          <a:prstGeom prst="rect">
            <a:avLst/>
          </a:prstGeom>
          <a:solidFill>
            <a:srgbClr val="FF5F57"/>
          </a:solidFill>
          <a:ln/>
        </p:spPr>
      </p:sp>
      <p:sp>
        <p:nvSpPr>
          <p:cNvPr id="8" name="Shape 6"/>
          <p:cNvSpPr/>
          <p:nvPr/>
        </p:nvSpPr>
        <p:spPr>
          <a:xfrm>
            <a:off x="713232" y="1024128"/>
            <a:ext cx="128016" cy="128016"/>
          </a:xfrm>
          <a:prstGeom prst="rect">
            <a:avLst/>
          </a:prstGeom>
          <a:solidFill>
            <a:srgbClr val="FEBC2E"/>
          </a:solidFill>
          <a:ln/>
        </p:spPr>
      </p:sp>
      <p:sp>
        <p:nvSpPr>
          <p:cNvPr id="9" name="Shape 7"/>
          <p:cNvSpPr/>
          <p:nvPr/>
        </p:nvSpPr>
        <p:spPr>
          <a:xfrm>
            <a:off x="932688" y="1024128"/>
            <a:ext cx="128016" cy="128016"/>
          </a:xfrm>
          <a:prstGeom prst="rect">
            <a:avLst/>
          </a:prstGeom>
          <a:solidFill>
            <a:srgbClr val="28C840"/>
          </a:solidFill>
          <a:ln/>
        </p:spPr>
      </p:sp>
      <p:sp>
        <p:nvSpPr>
          <p:cNvPr id="10" name="Text 8"/>
          <p:cNvSpPr/>
          <p:nvPr/>
        </p:nvSpPr>
        <p:spPr>
          <a:xfrm>
            <a:off x="1188720" y="932688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E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 Scenario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1344168"/>
            <a:ext cx="39319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7A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=====================================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38912" y="1554480"/>
            <a:ext cx="39319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NUMBER GUESSING GAME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1764792"/>
            <a:ext cx="39319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7A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=====================================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38912" y="1975104"/>
            <a:ext cx="39319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38912" y="2185416"/>
            <a:ext cx="39319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E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Difficulty: 2 (Medium)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38912" y="2395728"/>
            <a:ext cx="39319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Guess 1 - Enter your guess: 25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38912" y="2606040"/>
            <a:ext cx="39319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Hint: Cold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38912" y="2816352"/>
            <a:ext cx="39319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Guess 2 - Enter your guess: 40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38912" y="3026664"/>
            <a:ext cx="39319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Hint: Hot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38912" y="3236976"/>
            <a:ext cx="39319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Guess 3 - Enter your guess: 45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38912" y="3447288"/>
            <a:ext cx="39319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Hint: Very Hot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38912" y="3657600"/>
            <a:ext cx="39319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Guess 4 - Enter your guess: 47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38912" y="3867912"/>
            <a:ext cx="39319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38912" y="4078224"/>
            <a:ext cx="39319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CC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🎉 Correct! Attempts taken: 4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09160" y="914400"/>
            <a:ext cx="4160520" cy="4023360"/>
          </a:xfrm>
          <a:prstGeom prst="rect">
            <a:avLst/>
          </a:prstGeom>
          <a:solidFill>
            <a:srgbClr val="0A0F1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914400"/>
            <a:ext cx="4160520" cy="365760"/>
          </a:xfrm>
          <a:prstGeom prst="rect">
            <a:avLst/>
          </a:prstGeom>
          <a:solidFill>
            <a:srgbClr val="1A3050"/>
          </a:solidFill>
          <a:ln/>
        </p:spPr>
      </p:sp>
      <p:sp>
        <p:nvSpPr>
          <p:cNvPr id="27" name="Shape 25"/>
          <p:cNvSpPr/>
          <p:nvPr/>
        </p:nvSpPr>
        <p:spPr>
          <a:xfrm>
            <a:off x="4892040" y="1024128"/>
            <a:ext cx="128016" cy="128016"/>
          </a:xfrm>
          <a:prstGeom prst="rect">
            <a:avLst/>
          </a:prstGeom>
          <a:solidFill>
            <a:srgbClr val="FF5F57"/>
          </a:solidFill>
          <a:ln/>
        </p:spPr>
      </p:sp>
      <p:sp>
        <p:nvSpPr>
          <p:cNvPr id="28" name="Shape 26"/>
          <p:cNvSpPr/>
          <p:nvPr/>
        </p:nvSpPr>
        <p:spPr>
          <a:xfrm>
            <a:off x="5102352" y="1024128"/>
            <a:ext cx="128016" cy="128016"/>
          </a:xfrm>
          <a:prstGeom prst="rect">
            <a:avLst/>
          </a:prstGeom>
          <a:solidFill>
            <a:srgbClr val="FEBC2E"/>
          </a:solidFill>
          <a:ln/>
        </p:spPr>
      </p:sp>
      <p:sp>
        <p:nvSpPr>
          <p:cNvPr id="29" name="Shape 27"/>
          <p:cNvSpPr/>
          <p:nvPr/>
        </p:nvSpPr>
        <p:spPr>
          <a:xfrm>
            <a:off x="5321808" y="1024128"/>
            <a:ext cx="128016" cy="128016"/>
          </a:xfrm>
          <a:prstGeom prst="rect">
            <a:avLst/>
          </a:prstGeom>
          <a:solidFill>
            <a:srgbClr val="28C840"/>
          </a:solidFill>
          <a:ln/>
        </p:spPr>
      </p:sp>
      <p:sp>
        <p:nvSpPr>
          <p:cNvPr id="30" name="Text 28"/>
          <p:cNvSpPr/>
          <p:nvPr/>
        </p:nvSpPr>
        <p:spPr>
          <a:xfrm>
            <a:off x="5577840" y="932688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E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LOSE Scenario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28032" y="1344168"/>
            <a:ext cx="39319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7A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=====================================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828032" y="1554480"/>
            <a:ext cx="39319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NUMBER GUESSING GAME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828032" y="1764792"/>
            <a:ext cx="39319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7A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=====================================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828032" y="1975104"/>
            <a:ext cx="39319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828032" y="2185416"/>
            <a:ext cx="39319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E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Difficulty: 3 (Hard)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828032" y="2395728"/>
            <a:ext cx="39319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Guess 1 - Enter your guess: 10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828032" y="2606040"/>
            <a:ext cx="39319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Hint: Very Cold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828032" y="2816352"/>
            <a:ext cx="39319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Guess 2 - Enter your guess: 20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828032" y="3026664"/>
            <a:ext cx="39319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Hint: Very Cold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828032" y="3236976"/>
            <a:ext cx="39319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7A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828032" y="3447288"/>
            <a:ext cx="39319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Guess 7 - Enter your guess: 55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828032" y="3657600"/>
            <a:ext cx="39319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Hint: Hot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828032" y="3867912"/>
            <a:ext cx="39319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828032" y="4078224"/>
            <a:ext cx="39319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 Lose! The number was: 63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2588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Learning Outcomes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AE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Guessing Game – C Programming Project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508760"/>
            <a:ext cx="2743200" cy="3337560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508760"/>
            <a:ext cx="2743200" cy="457200"/>
          </a:xfrm>
          <a:prstGeom prst="rect">
            <a:avLst/>
          </a:prstGeom>
          <a:solidFill>
            <a:srgbClr val="1E5FAD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527048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C Concepts Mastered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066544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Random number generation with rand()/srand()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889504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Loops (while) and conditionals (if-else)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712464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Arithmetic operators and type casting (float)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46120" y="1508760"/>
            <a:ext cx="2743200" cy="3337560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46120" y="1508760"/>
            <a:ext cx="2743200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3337560" y="1527048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Problem Solving Skills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83280" y="2066544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Designing hint logic using percentages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83280" y="2889504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Breaking large problems into modules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83280" y="3712464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Testing and validating edge cases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72200" y="1508760"/>
            <a:ext cx="2743200" cy="3337560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72200" y="1508760"/>
            <a:ext cx="2743200" cy="4572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0" name="Text 18"/>
          <p:cNvSpPr/>
          <p:nvPr/>
        </p:nvSpPr>
        <p:spPr>
          <a:xfrm>
            <a:off x="6263640" y="1527048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Future Enhancements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309360" y="2066544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Add a replay (play again) loop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09360" y="2889504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Score tracking across rounds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09360" y="3712464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File I/O to save high scores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" y="4663440"/>
            <a:ext cx="8503920" cy="384048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25" name="Shape 23"/>
          <p:cNvSpPr/>
          <p:nvPr/>
        </p:nvSpPr>
        <p:spPr>
          <a:xfrm>
            <a:off x="320040" y="4663440"/>
            <a:ext cx="73152" cy="38404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" y="4663440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AE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demonstrates fundamental C programming constructs in an engaging, interactive and game-oriented format.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Number Guessing Game – C Project</dc:title>
  <dc:subject>PptxGenJS Presentation</dc:subject>
  <dc:creator>Student</dc:creator>
  <cp:lastModifiedBy>Student</cp:lastModifiedBy>
  <cp:revision>1</cp:revision>
  <dcterms:created xsi:type="dcterms:W3CDTF">2026-02-17T05:03:51Z</dcterms:created>
  <dcterms:modified xsi:type="dcterms:W3CDTF">2026-02-17T05:03:51Z</dcterms:modified>
</cp:coreProperties>
</file>